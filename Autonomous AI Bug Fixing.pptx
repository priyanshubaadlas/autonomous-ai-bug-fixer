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Gotham" panose="020B0604020202020204" charset="0"/>
      <p:regular r:id="rId10"/>
    </p:embeddedFont>
    <p:embeddedFont>
      <p:font typeface="Gotham Bold" panose="020B0604020202020204" charset="0"/>
      <p:regular r:id="rId11"/>
    </p:embeddedFont>
    <p:embeddedFont>
      <p:font typeface="Gotham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Baadlas" userId="aa265afad13a9457" providerId="LiveId" clId="{D7A4BE4C-A4F3-4AA2-B6FD-6C1966A4FBA9}"/>
    <pc:docChg chg="undo redo custSel modSld">
      <pc:chgData name="Priyanshu Baadlas" userId="aa265afad13a9457" providerId="LiveId" clId="{D7A4BE4C-A4F3-4AA2-B6FD-6C1966A4FBA9}" dt="2026-09-29T14:38:54.151" v="59" actId="14100"/>
      <pc:docMkLst>
        <pc:docMk/>
      </pc:docMkLst>
      <pc:sldChg chg="modSp mod">
        <pc:chgData name="Priyanshu Baadlas" userId="aa265afad13a9457" providerId="LiveId" clId="{D7A4BE4C-A4F3-4AA2-B6FD-6C1966A4FBA9}" dt="2026-09-29T14:34:04.113" v="38" actId="14100"/>
        <pc:sldMkLst>
          <pc:docMk/>
          <pc:sldMk cId="0" sldId="258"/>
        </pc:sldMkLst>
        <pc:spChg chg="mod">
          <ac:chgData name="Priyanshu Baadlas" userId="aa265afad13a9457" providerId="LiveId" clId="{D7A4BE4C-A4F3-4AA2-B6FD-6C1966A4FBA9}" dt="2026-09-29T14:34:04.113" v="38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2:41.267" v="23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1:02.687" v="10" actId="404"/>
          <ac:spMkLst>
            <pc:docMk/>
            <pc:sldMk cId="0" sldId="258"/>
            <ac:spMk id="8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1:34.506" v="18" actId="40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2:04.792" v="22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3:16.239" v="29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3:29.607" v="32" actId="14100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Priyanshu Baadlas" userId="aa265afad13a9457" providerId="LiveId" clId="{D7A4BE4C-A4F3-4AA2-B6FD-6C1966A4FBA9}" dt="2026-09-29T14:38:54.151" v="59" actId="14100"/>
        <pc:sldMkLst>
          <pc:docMk/>
          <pc:sldMk cId="0" sldId="259"/>
        </pc:sldMkLst>
        <pc:spChg chg="mod">
          <ac:chgData name="Priyanshu Baadlas" userId="aa265afad13a9457" providerId="LiveId" clId="{D7A4BE4C-A4F3-4AA2-B6FD-6C1966A4FBA9}" dt="2026-09-29T14:35:07.549" v="45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4:59.819" v="43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5:12.948" v="46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5:17.331" v="47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6:16.880" v="52" actId="1410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8:54.151" v="59" actId="14100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Priyanshu Baadlas" userId="aa265afad13a9457" providerId="LiveId" clId="{D7A4BE4C-A4F3-4AA2-B6FD-6C1966A4FBA9}" dt="2026-09-29T14:37:07.890" v="56" actId="14100"/>
        <pc:sldMkLst>
          <pc:docMk/>
          <pc:sldMk cId="0" sldId="260"/>
        </pc:sldMkLst>
        <pc:spChg chg="mod">
          <ac:chgData name="Priyanshu Baadlas" userId="aa265afad13a9457" providerId="LiveId" clId="{D7A4BE4C-A4F3-4AA2-B6FD-6C1966A4FBA9}" dt="2026-09-29T14:37:07.890" v="56" actId="1410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6:41.033" v="54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riyanshu Baadlas" userId="aa265afad13a9457" providerId="LiveId" clId="{D7A4BE4C-A4F3-4AA2-B6FD-6C1966A4FBA9}" dt="2026-09-29T14:36:58.744" v="55" actId="1076"/>
          <ac:spMkLst>
            <pc:docMk/>
            <pc:sldMk cId="0" sldId="260"/>
            <ac:spMk id="21" creationId="{00000000-0000-0000-0000-000000000000}"/>
          </ac:spMkLst>
        </pc:spChg>
      </pc:sldChg>
      <pc:sldChg chg="modSp mod">
        <pc:chgData name="Priyanshu Baadlas" userId="aa265afad13a9457" providerId="LiveId" clId="{D7A4BE4C-A4F3-4AA2-B6FD-6C1966A4FBA9}" dt="2026-09-29T14:37:30.219" v="57" actId="14100"/>
        <pc:sldMkLst>
          <pc:docMk/>
          <pc:sldMk cId="0" sldId="261"/>
        </pc:sldMkLst>
        <pc:spChg chg="mod">
          <ac:chgData name="Priyanshu Baadlas" userId="aa265afad13a9457" providerId="LiveId" clId="{D7A4BE4C-A4F3-4AA2-B6FD-6C1966A4FBA9}" dt="2026-09-29T14:37:30.219" v="57" actId="14100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Priyanshu Baadlas" userId="aa265afad13a9457" providerId="LiveId" clId="{D7A4BE4C-A4F3-4AA2-B6FD-6C1966A4FBA9}" dt="2026-09-29T14:37:57.038" v="58" actId="14100"/>
        <pc:sldMkLst>
          <pc:docMk/>
          <pc:sldMk cId="0" sldId="263"/>
        </pc:sldMkLst>
        <pc:spChg chg="mod">
          <ac:chgData name="Priyanshu Baadlas" userId="aa265afad13a9457" providerId="LiveId" clId="{D7A4BE4C-A4F3-4AA2-B6FD-6C1966A4FBA9}" dt="2026-09-29T14:37:57.038" v="58" actId="14100"/>
          <ac:spMkLst>
            <pc:docMk/>
            <pc:sldMk cId="0" sldId="263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236354" y="1924030"/>
            <a:ext cx="3051646" cy="3443576"/>
          </a:xfrm>
          <a:custGeom>
            <a:avLst/>
            <a:gdLst/>
            <a:ahLst/>
            <a:cxnLst/>
            <a:rect l="l" t="t" r="r" b="b"/>
            <a:pathLst>
              <a:path w="3051646" h="3443576">
                <a:moveTo>
                  <a:pt x="0" y="0"/>
                </a:moveTo>
                <a:lnTo>
                  <a:pt x="3051646" y="0"/>
                </a:lnTo>
                <a:lnTo>
                  <a:pt x="305164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570574" y="2350377"/>
            <a:ext cx="8717426" cy="6657580"/>
          </a:xfrm>
          <a:custGeom>
            <a:avLst/>
            <a:gdLst/>
            <a:ahLst/>
            <a:cxnLst/>
            <a:rect l="l" t="t" r="r" b="b"/>
            <a:pathLst>
              <a:path w="8717426" h="6657580">
                <a:moveTo>
                  <a:pt x="0" y="0"/>
                </a:moveTo>
                <a:lnTo>
                  <a:pt x="8717426" y="0"/>
                </a:lnTo>
                <a:lnTo>
                  <a:pt x="8717426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14400" y="1472685"/>
            <a:ext cx="7790688" cy="358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6"/>
              </a:lnSpc>
            </a:pPr>
            <a:r>
              <a:rPr lang="en-US" sz="8882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Autonomous AI Bug Fixing </a:t>
            </a:r>
            <a:r>
              <a:rPr lang="en-US" sz="8882" b="1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Assistant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5374898"/>
            <a:ext cx="8156448" cy="82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 Self-Healing Multi-Agent Framework for Automated Defect Diagnosis, Patching, and Validation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6635716"/>
            <a:ext cx="1531292" cy="229572"/>
          </a:xfrm>
          <a:custGeom>
            <a:avLst/>
            <a:gdLst/>
            <a:ahLst/>
            <a:cxnLst/>
            <a:rect l="l" t="t" r="r" b="b"/>
            <a:pathLst>
              <a:path w="1531292" h="229572">
                <a:moveTo>
                  <a:pt x="0" y="0"/>
                </a:moveTo>
                <a:lnTo>
                  <a:pt x="1531292" y="0"/>
                </a:lnTo>
                <a:lnTo>
                  <a:pt x="1531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914400" y="7230301"/>
            <a:ext cx="2395728" cy="35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044" b="1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Project repository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7642321"/>
            <a:ext cx="6400800" cy="364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PriyanshuBaadlas/Autonomous-AI-Bug-Fixer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8356617"/>
            <a:ext cx="1463040" cy="3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0" b="1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Tech stack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8748609"/>
            <a:ext cx="7223760" cy="364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6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Python, Groq LLM API, Pytest, Subprocess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112804" cy="10287000"/>
          </a:xfrm>
          <a:custGeom>
            <a:avLst/>
            <a:gdLst/>
            <a:ahLst/>
            <a:cxnLst/>
            <a:rect l="l" t="t" r="r" b="b"/>
            <a:pathLst>
              <a:path w="11112804" h="10287000">
                <a:moveTo>
                  <a:pt x="0" y="0"/>
                </a:moveTo>
                <a:lnTo>
                  <a:pt x="11112804" y="0"/>
                </a:lnTo>
                <a:lnTo>
                  <a:pt x="11112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22960" y="800252"/>
            <a:ext cx="2249424" cy="354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2384" b="1" spc="-59">
                <a:solidFill>
                  <a:srgbClr val="6EFFFF"/>
                </a:solidFill>
                <a:latin typeface="Gotham Bold"/>
                <a:ea typeface="Gotham Bold"/>
                <a:cs typeface="Gotham Bold"/>
                <a:sym typeface="Gotham Bold"/>
              </a:rPr>
              <a:t>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2960" y="1478906"/>
            <a:ext cx="6894576" cy="444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128" b="1" spc="-15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Developers spend over </a:t>
            </a:r>
            <a:r>
              <a:rPr lang="en-US" sz="6128" b="1" spc="-153">
                <a:solidFill>
                  <a:srgbClr val="6EFFFF"/>
                </a:solidFill>
                <a:latin typeface="Gotham Bold"/>
                <a:ea typeface="Gotham Bold"/>
                <a:cs typeface="Gotham Bold"/>
                <a:sym typeface="Gotham Bold"/>
              </a:rPr>
              <a:t>40%</a:t>
            </a:r>
            <a:r>
              <a:rPr lang="en-US" sz="6128" b="1" spc="-15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of engineering time locating and resolving defects.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2960" y="6313721"/>
            <a:ext cx="6181344" cy="81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384" spc="-5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Manual debugging is a major bottleneck slowing release velocity.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7352708"/>
            <a:ext cx="6126480" cy="81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384" spc="-5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Current AI copilots only suggest code snippets without execution or validation.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8395193"/>
            <a:ext cx="5779008" cy="121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384" spc="-5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Need for a closed-loop system that autonomously diagnoses, fixes, tests, and documents defects.</a:t>
            </a:r>
          </a:p>
        </p:txBody>
      </p:sp>
      <p:sp>
        <p:nvSpPr>
          <p:cNvPr id="9" name="Freeform 9"/>
          <p:cNvSpPr/>
          <p:nvPr/>
        </p:nvSpPr>
        <p:spPr>
          <a:xfrm>
            <a:off x="7831464" y="426348"/>
            <a:ext cx="10456536" cy="9860652"/>
          </a:xfrm>
          <a:custGeom>
            <a:avLst/>
            <a:gdLst/>
            <a:ahLst/>
            <a:cxnLst/>
            <a:rect l="l" t="t" r="r" b="b"/>
            <a:pathLst>
              <a:path w="10456536" h="9860652">
                <a:moveTo>
                  <a:pt x="0" y="0"/>
                </a:moveTo>
                <a:lnTo>
                  <a:pt x="10456536" y="0"/>
                </a:lnTo>
                <a:lnTo>
                  <a:pt x="10456536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6700"/>
            <a:ext cx="18288000" cy="105918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68096" y="674044"/>
            <a:ext cx="2962656" cy="32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299" b="1" spc="-68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SYSTEM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8096" y="1398415"/>
            <a:ext cx="6858000" cy="321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3"/>
              </a:lnSpc>
            </a:pPr>
            <a:r>
              <a:rPr lang="en-US" sz="5730" b="1" spc="-17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Specialized agents dividing software engineering responsibilities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9233" y="4923094"/>
            <a:ext cx="914400" cy="80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5"/>
              </a:lnSpc>
            </a:pPr>
            <a:r>
              <a:rPr lang="en-US" sz="5400" b="1" spc="-179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84832" y="4938652"/>
            <a:ext cx="2377440" cy="31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248" b="1" spc="-67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Inspector 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4832" y="5255231"/>
            <a:ext cx="3877056" cy="6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Root cause analysis from bug descriptions and stack traces.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8096" y="6228179"/>
            <a:ext cx="91440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72"/>
              </a:lnSpc>
            </a:pPr>
            <a:r>
              <a:rPr lang="en-US" sz="5400" b="1" spc="-168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4832" y="6306823"/>
            <a:ext cx="2468880" cy="31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248" b="1" spc="-67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Developer Agent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4832" y="6623402"/>
            <a:ext cx="4791456" cy="6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Generates precise, hallucination-free code patches.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8096" y="7544915"/>
            <a:ext cx="91440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72"/>
              </a:lnSpc>
            </a:pPr>
            <a:r>
              <a:rPr lang="en-US" sz="5400" b="1" spc="-168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4832" y="7633846"/>
            <a:ext cx="2340864" cy="31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248" b="1" spc="-67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Validator 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4832" y="7940138"/>
            <a:ext cx="5449824" cy="6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Runs patches in sandboxed environment with Pytest regression suites.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8096" y="8917255"/>
            <a:ext cx="1060704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5400" b="1" spc="-158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4832" y="9256874"/>
            <a:ext cx="4718304" cy="6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Produces git diffs and Pull Request summaries for deployment.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008086" y="634055"/>
            <a:ext cx="7197072" cy="9445237"/>
          </a:xfrm>
          <a:custGeom>
            <a:avLst/>
            <a:gdLst/>
            <a:ahLst/>
            <a:cxnLst/>
            <a:rect l="l" t="t" r="r" b="b"/>
            <a:pathLst>
              <a:path w="7197072" h="9445237">
                <a:moveTo>
                  <a:pt x="0" y="0"/>
                </a:moveTo>
                <a:lnTo>
                  <a:pt x="7197072" y="0"/>
                </a:lnTo>
                <a:lnTo>
                  <a:pt x="7197072" y="9445237"/>
                </a:lnTo>
                <a:lnTo>
                  <a:pt x="0" y="944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0124547" y="2101139"/>
            <a:ext cx="80772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34"/>
              </a:lnSpc>
            </a:pPr>
            <a:r>
              <a:rPr lang="en-US" sz="4758" b="1" spc="-142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41279" y="4060295"/>
            <a:ext cx="807719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4015" b="1" spc="-120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41280" y="5932529"/>
            <a:ext cx="658368" cy="57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4015" b="1" spc="-120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1280" y="7914416"/>
            <a:ext cx="658368" cy="53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8"/>
              </a:lnSpc>
            </a:pPr>
            <a:r>
              <a:rPr lang="en-US" sz="3789" b="1" spc="-113" dirty="0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716000" y="3214004"/>
            <a:ext cx="656268" cy="1082267"/>
          </a:xfrm>
          <a:custGeom>
            <a:avLst/>
            <a:gdLst/>
            <a:ahLst/>
            <a:cxnLst/>
            <a:rect l="l" t="t" r="r" b="b"/>
            <a:pathLst>
              <a:path w="656268" h="1082267">
                <a:moveTo>
                  <a:pt x="0" y="0"/>
                </a:moveTo>
                <a:lnTo>
                  <a:pt x="656268" y="0"/>
                </a:lnTo>
                <a:lnTo>
                  <a:pt x="65626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13716000" y="5138034"/>
            <a:ext cx="656268" cy="1300906"/>
          </a:xfrm>
          <a:custGeom>
            <a:avLst/>
            <a:gdLst/>
            <a:ahLst/>
            <a:cxnLst/>
            <a:rect l="l" t="t" r="r" b="b"/>
            <a:pathLst>
              <a:path w="656268" h="1300906">
                <a:moveTo>
                  <a:pt x="0" y="0"/>
                </a:moveTo>
                <a:lnTo>
                  <a:pt x="656268" y="0"/>
                </a:lnTo>
                <a:lnTo>
                  <a:pt x="65626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>
            <a:off x="13716000" y="7062064"/>
            <a:ext cx="656268" cy="1300906"/>
          </a:xfrm>
          <a:custGeom>
            <a:avLst/>
            <a:gdLst/>
            <a:ahLst/>
            <a:cxnLst/>
            <a:rect l="l" t="t" r="r" b="b"/>
            <a:pathLst>
              <a:path w="656268" h="1300906">
                <a:moveTo>
                  <a:pt x="0" y="0"/>
                </a:moveTo>
                <a:lnTo>
                  <a:pt x="656268" y="0"/>
                </a:lnTo>
                <a:lnTo>
                  <a:pt x="65626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2084832" y="8950582"/>
            <a:ext cx="2267712" cy="31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248" b="1" spc="-67">
                <a:solidFill>
                  <a:srgbClr val="5CE1E6"/>
                </a:solidFill>
                <a:latin typeface="Gotham Bold"/>
                <a:ea typeface="Gotham Bold"/>
                <a:cs typeface="Gotham Bold"/>
                <a:sym typeface="Gotham Bold"/>
              </a:rPr>
              <a:t>Reporter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68096" y="755610"/>
            <a:ext cx="2157984" cy="364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6" b="1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THE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8096" y="1453512"/>
            <a:ext cx="8723376" cy="181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4"/>
              </a:lnSpc>
            </a:pPr>
            <a:r>
              <a:rPr lang="en-US" sz="5986" b="1" spc="-11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Technical Architecture &amp; Core Components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3640352"/>
            <a:ext cx="3926670" cy="5148966"/>
          </a:xfrm>
          <a:custGeom>
            <a:avLst/>
            <a:gdLst/>
            <a:ahLst/>
            <a:cxnLst/>
            <a:rect l="l" t="t" r="r" b="b"/>
            <a:pathLst>
              <a:path w="3926670" h="5148966">
                <a:moveTo>
                  <a:pt x="0" y="0"/>
                </a:moveTo>
                <a:lnTo>
                  <a:pt x="3926670" y="0"/>
                </a:lnTo>
                <a:lnTo>
                  <a:pt x="3926670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188720" y="3948658"/>
            <a:ext cx="1173480" cy="993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27"/>
              </a:lnSpc>
            </a:pPr>
            <a:r>
              <a:rPr lang="en-US" sz="6019" b="1" dirty="0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5296" y="5086588"/>
            <a:ext cx="2487168" cy="89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990" b="1" dirty="0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Host Environment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5296" y="6434654"/>
            <a:ext cx="2377440" cy="129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Antigravity IDE /CLI Controller (main.py)</a:t>
            </a:r>
          </a:p>
        </p:txBody>
      </p:sp>
      <p:sp>
        <p:nvSpPr>
          <p:cNvPr id="9" name="Freeform 9"/>
          <p:cNvSpPr/>
          <p:nvPr/>
        </p:nvSpPr>
        <p:spPr>
          <a:xfrm>
            <a:off x="4353244" y="5564382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998574" y="3640352"/>
            <a:ext cx="3937608" cy="5148966"/>
          </a:xfrm>
          <a:custGeom>
            <a:avLst/>
            <a:gdLst/>
            <a:ahLst/>
            <a:cxnLst/>
            <a:rect l="l" t="t" r="r" b="b"/>
            <a:pathLst>
              <a:path w="3937608" h="5148966">
                <a:moveTo>
                  <a:pt x="0" y="0"/>
                </a:moveTo>
                <a:lnTo>
                  <a:pt x="3937608" y="0"/>
                </a:lnTo>
                <a:lnTo>
                  <a:pt x="3937608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5541264" y="3967373"/>
            <a:ext cx="1088136" cy="1003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34"/>
              </a:lnSpc>
            </a:pPr>
            <a:r>
              <a:rPr lang="en-US" sz="5882" b="1" dirty="0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1264" y="5145337"/>
            <a:ext cx="1993392" cy="98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8"/>
              </a:lnSpc>
            </a:pPr>
            <a:r>
              <a:rPr lang="en-US" sz="3232" b="1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Inference Engine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7840" y="6434654"/>
            <a:ext cx="2377440" cy="129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Groq API for high-speed LLM reasoning</a:t>
            </a:r>
          </a:p>
        </p:txBody>
      </p:sp>
      <p:sp>
        <p:nvSpPr>
          <p:cNvPr id="14" name="Freeform 14"/>
          <p:cNvSpPr/>
          <p:nvPr/>
        </p:nvSpPr>
        <p:spPr>
          <a:xfrm>
            <a:off x="8487732" y="5564382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351818" y="3640352"/>
            <a:ext cx="3718852" cy="5148966"/>
          </a:xfrm>
          <a:custGeom>
            <a:avLst/>
            <a:gdLst/>
            <a:ahLst/>
            <a:cxnLst/>
            <a:rect l="l" t="t" r="r" b="b"/>
            <a:pathLst>
              <a:path w="3718852" h="5148966">
                <a:moveTo>
                  <a:pt x="0" y="0"/>
                </a:moveTo>
                <a:lnTo>
                  <a:pt x="3718852" y="0"/>
                </a:lnTo>
                <a:lnTo>
                  <a:pt x="3718852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9820656" y="3957893"/>
            <a:ext cx="1267122" cy="1022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94"/>
              </a:lnSpc>
            </a:pPr>
            <a:r>
              <a:rPr lang="en-US" sz="5996" b="1" dirty="0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20656" y="5145337"/>
            <a:ext cx="1865376" cy="98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8"/>
              </a:lnSpc>
            </a:pPr>
            <a:r>
              <a:rPr lang="en-US" sz="3232" b="1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Patching Engine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57232" y="6449037"/>
            <a:ext cx="2907792" cy="1694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274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Block-level targeted code replacement avoiding whole-file rewrites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840976" y="5564382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3497244" y="3640352"/>
            <a:ext cx="3926670" cy="5148966"/>
          </a:xfrm>
          <a:custGeom>
            <a:avLst/>
            <a:gdLst/>
            <a:ahLst/>
            <a:cxnLst/>
            <a:rect l="l" t="t" r="r" b="b"/>
            <a:pathLst>
              <a:path w="3926670" h="5148966">
                <a:moveTo>
                  <a:pt x="0" y="0"/>
                </a:moveTo>
                <a:lnTo>
                  <a:pt x="3926670" y="0"/>
                </a:lnTo>
                <a:lnTo>
                  <a:pt x="3926670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14063472" y="4023717"/>
            <a:ext cx="1100328" cy="900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70"/>
              </a:lnSpc>
            </a:pPr>
            <a:r>
              <a:rPr lang="en-US" sz="5264" b="1" dirty="0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63472" y="5146744"/>
            <a:ext cx="2243328" cy="971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3191" b="1" dirty="0">
                <a:solidFill>
                  <a:srgbClr val="38D9F6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Engine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00048" y="6566513"/>
            <a:ext cx="3090672" cy="179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19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Isolated temporary workspace with custom PYTHONPATH and sandboxed subprocesses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31520" y="642121"/>
            <a:ext cx="7095744" cy="257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3"/>
              </a:lnSpc>
            </a:pPr>
            <a:r>
              <a:rPr lang="en-US" sz="6157" b="1" spc="-12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Agent </a:t>
            </a:r>
            <a:r>
              <a:rPr lang="en-US" sz="6157" b="1" i="1" spc="-123">
                <a:solidFill>
                  <a:srgbClr val="FFFFFF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Workflow &amp;</a:t>
            </a:r>
            <a:r>
              <a:rPr lang="en-US" sz="6157" b="1" i="1" spc="-123">
                <a:solidFill>
                  <a:srgbClr val="00FFFF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sz="6157" b="1" spc="-123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The Self-Healing Feedback Loop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640352"/>
            <a:ext cx="2843828" cy="2579949"/>
          </a:xfrm>
          <a:custGeom>
            <a:avLst/>
            <a:gdLst/>
            <a:ahLst/>
            <a:cxnLst/>
            <a:rect l="l" t="t" r="r" b="b"/>
            <a:pathLst>
              <a:path w="2843828" h="2579949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170432" y="4915708"/>
            <a:ext cx="1755648" cy="77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b="1" spc="-44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Ingest</a:t>
            </a:r>
          </a:p>
          <a:p>
            <a:pPr algn="l">
              <a:lnSpc>
                <a:spcPts val="3112"/>
              </a:lnSpc>
            </a:pPr>
            <a:r>
              <a:rPr lang="en-US" sz="2223" b="1" spc="-44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Code &amp; Logs</a:t>
            </a:r>
          </a:p>
        </p:txBody>
      </p:sp>
      <p:sp>
        <p:nvSpPr>
          <p:cNvPr id="6" name="Freeform 6"/>
          <p:cNvSpPr/>
          <p:nvPr/>
        </p:nvSpPr>
        <p:spPr>
          <a:xfrm>
            <a:off x="3259464" y="4711687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4134488" y="3640352"/>
            <a:ext cx="3051646" cy="2579949"/>
          </a:xfrm>
          <a:custGeom>
            <a:avLst/>
            <a:gdLst/>
            <a:ahLst/>
            <a:cxnLst/>
            <a:rect l="l" t="t" r="r" b="b"/>
            <a:pathLst>
              <a:path w="3051646" h="2579949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4718304" y="4916049"/>
            <a:ext cx="1335024" cy="77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 spc="-44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Inspector</a:t>
            </a:r>
          </a:p>
          <a:p>
            <a:pPr algn="l">
              <a:lnSpc>
                <a:spcPts val="3149"/>
              </a:lnSpc>
            </a:pPr>
            <a:r>
              <a:rPr lang="en-US" sz="2250" b="1" spc="-44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(RCA)</a:t>
            </a:r>
          </a:p>
        </p:txBody>
      </p:sp>
      <p:sp>
        <p:nvSpPr>
          <p:cNvPr id="9" name="Freeform 9"/>
          <p:cNvSpPr/>
          <p:nvPr/>
        </p:nvSpPr>
        <p:spPr>
          <a:xfrm>
            <a:off x="6956440" y="4711687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831464" y="3640352"/>
            <a:ext cx="3062584" cy="2579949"/>
          </a:xfrm>
          <a:custGeom>
            <a:avLst/>
            <a:gdLst/>
            <a:ahLst/>
            <a:cxnLst/>
            <a:rect l="l" t="t" r="r" b="b"/>
            <a:pathLst>
              <a:path w="3062584" h="2579949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8467344" y="4915708"/>
            <a:ext cx="1792224" cy="77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b="1" spc="-44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Developer</a:t>
            </a:r>
          </a:p>
          <a:p>
            <a:pPr algn="l">
              <a:lnSpc>
                <a:spcPts val="3112"/>
              </a:lnSpc>
            </a:pPr>
            <a:r>
              <a:rPr lang="en-US" sz="2223" b="1" spc="-44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(Draft Patch)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664354" y="4711687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1747196" y="3640352"/>
            <a:ext cx="3062584" cy="2579949"/>
          </a:xfrm>
          <a:custGeom>
            <a:avLst/>
            <a:gdLst/>
            <a:ahLst/>
            <a:cxnLst/>
            <a:rect l="l" t="t" r="r" b="b"/>
            <a:pathLst>
              <a:path w="3062584" h="2579949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2326112" y="4946454"/>
            <a:ext cx="2231136" cy="71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6"/>
              </a:lnSpc>
            </a:pPr>
            <a:r>
              <a:rPr lang="en-US" sz="2061" b="1" spc="-4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Validator</a:t>
            </a:r>
          </a:p>
          <a:p>
            <a:pPr algn="l">
              <a:lnSpc>
                <a:spcPts val="2886"/>
              </a:lnSpc>
            </a:pPr>
            <a:r>
              <a:rPr lang="en-US" sz="2061" b="1" spc="-4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(Pytest Sandbox)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580086" y="4711687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5855696" y="4360925"/>
            <a:ext cx="1898904" cy="449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 spc="-54" dirty="0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Tests Pass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855696" y="4995358"/>
            <a:ext cx="1719072" cy="156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spc="-44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Automated commit and PR summary generated</a:t>
            </a:r>
          </a:p>
        </p:txBody>
      </p:sp>
      <p:sp>
        <p:nvSpPr>
          <p:cNvPr id="18" name="Freeform 18"/>
          <p:cNvSpPr/>
          <p:nvPr/>
        </p:nvSpPr>
        <p:spPr>
          <a:xfrm>
            <a:off x="13059732" y="5990729"/>
            <a:ext cx="448450" cy="874559"/>
          </a:xfrm>
          <a:custGeom>
            <a:avLst/>
            <a:gdLst/>
            <a:ahLst/>
            <a:cxnLst/>
            <a:rect l="l" t="t" r="r" b="b"/>
            <a:pathLst>
              <a:path w="448450" h="874559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2582144" y="6856832"/>
            <a:ext cx="1514856" cy="378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3" b="1" spc="-46" dirty="0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Tests Fail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82144" y="7424561"/>
            <a:ext cx="2231136" cy="10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Error tracebacks returned to Developer Agent</a:t>
            </a:r>
          </a:p>
        </p:txBody>
      </p:sp>
      <p:sp>
        <p:nvSpPr>
          <p:cNvPr id="21" name="Freeform 21"/>
          <p:cNvSpPr/>
          <p:nvPr/>
        </p:nvSpPr>
        <p:spPr>
          <a:xfrm>
            <a:off x="9029153" y="6220301"/>
            <a:ext cx="4364182" cy="2798589"/>
          </a:xfrm>
          <a:custGeom>
            <a:avLst/>
            <a:gdLst/>
            <a:ahLst/>
            <a:cxnLst/>
            <a:rect l="l" t="t" r="r" b="b"/>
            <a:pathLst>
              <a:path w="4364182" h="2798589">
                <a:moveTo>
                  <a:pt x="0" y="0"/>
                </a:moveTo>
                <a:lnTo>
                  <a:pt x="4364182" y="0"/>
                </a:lnTo>
                <a:lnTo>
                  <a:pt x="436418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2" name="TextBox 22"/>
          <p:cNvSpPr txBox="1"/>
          <p:nvPr/>
        </p:nvSpPr>
        <p:spPr>
          <a:xfrm>
            <a:off x="10021824" y="9021885"/>
            <a:ext cx="2743200" cy="38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 spc="-44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Up to 3 auto-retries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0432" y="4134606"/>
            <a:ext cx="365760" cy="72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5"/>
              </a:lnSpc>
            </a:pPr>
            <a:r>
              <a:rPr lang="en-US" sz="5132" b="1" spc="-102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18304" y="4134606"/>
            <a:ext cx="365760" cy="72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5"/>
              </a:lnSpc>
            </a:pPr>
            <a:r>
              <a:rPr lang="en-US" sz="5132" b="1" spc="-102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67344" y="4134606"/>
            <a:ext cx="365760" cy="72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5"/>
              </a:lnSpc>
            </a:pPr>
            <a:r>
              <a:rPr lang="en-US" sz="5132" b="1" spc="-102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6112" y="4134606"/>
            <a:ext cx="365760" cy="72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5"/>
              </a:lnSpc>
            </a:pPr>
            <a:r>
              <a:rPr lang="en-US" sz="5132" b="1" spc="-102">
                <a:solidFill>
                  <a:srgbClr val="00FFFF"/>
                </a:solidFill>
                <a:latin typeface="Gotham Bold"/>
                <a:ea typeface="Gotham Bold"/>
                <a:cs typeface="Gotham Bold"/>
                <a:sym typeface="Gotham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570574" y="2569017"/>
            <a:ext cx="8509608" cy="7083928"/>
          </a:xfrm>
          <a:custGeom>
            <a:avLst/>
            <a:gdLst/>
            <a:ahLst/>
            <a:cxnLst/>
            <a:rect l="l" t="t" r="r" b="b"/>
            <a:pathLst>
              <a:path w="8509608" h="7083928">
                <a:moveTo>
                  <a:pt x="0" y="0"/>
                </a:moveTo>
                <a:lnTo>
                  <a:pt x="8509608" y="0"/>
                </a:lnTo>
                <a:lnTo>
                  <a:pt x="850960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41248" y="857329"/>
            <a:ext cx="6912864" cy="27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2115" b="1" spc="105">
                <a:solidFill>
                  <a:srgbClr val="00E8FF"/>
                </a:solidFill>
                <a:latin typeface="Gotham Bold"/>
                <a:ea typeface="Gotham Bold"/>
                <a:cs typeface="Gotham Bold"/>
                <a:sym typeface="Gotham Bold"/>
              </a:rPr>
              <a:t>SANDBOX ISOLATION &amp; REGRESSION SAFETY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1859432"/>
            <a:ext cx="10131552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35"/>
              </a:lnSpc>
            </a:pPr>
            <a:r>
              <a:rPr lang="en-US" sz="7835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Zero contamination to </a:t>
            </a:r>
            <a:r>
              <a:rPr lang="en-US" sz="7835" b="1" dirty="0">
                <a:solidFill>
                  <a:srgbClr val="00E8FF"/>
                </a:solidFill>
                <a:latin typeface="Gotham Bold"/>
                <a:ea typeface="Gotham Bold"/>
                <a:cs typeface="Gotham Bold"/>
                <a:sym typeface="Gotham Bold"/>
              </a:rPr>
              <a:t>production </a:t>
            </a:r>
            <a:r>
              <a:rPr lang="en-US" sz="7835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codebases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5356674"/>
            <a:ext cx="2625072" cy="218640"/>
          </a:xfrm>
          <a:custGeom>
            <a:avLst/>
            <a:gdLst/>
            <a:ahLst/>
            <a:cxnLst/>
            <a:rect l="l" t="t" r="r" b="b"/>
            <a:pathLst>
              <a:path w="2625072" h="218640">
                <a:moveTo>
                  <a:pt x="0" y="0"/>
                </a:moveTo>
                <a:lnTo>
                  <a:pt x="2625072" y="0"/>
                </a:lnTo>
                <a:lnTo>
                  <a:pt x="2625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841248" y="6005079"/>
            <a:ext cx="6144768" cy="81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68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Ephemeral Python tempfile mkdtemp clones for isolated testing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7230405"/>
            <a:ext cx="6364224" cy="74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5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Subprocess execution sandbox protects live environment from untrusted code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8434746"/>
            <a:ext cx="7168896" cy="75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473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Full regression test suites ensure 100% existing functionality preserved before merge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706488" y="1497682"/>
            <a:ext cx="9581512" cy="7717983"/>
          </a:xfrm>
          <a:custGeom>
            <a:avLst/>
            <a:gdLst/>
            <a:ahLst/>
            <a:cxnLst/>
            <a:rect l="l" t="t" r="r" b="b"/>
            <a:pathLst>
              <a:path w="9581512" h="7717983">
                <a:moveTo>
                  <a:pt x="0" y="0"/>
                </a:moveTo>
                <a:lnTo>
                  <a:pt x="9581512" y="0"/>
                </a:lnTo>
                <a:lnTo>
                  <a:pt x="9581512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41248" y="862524"/>
            <a:ext cx="6473952" cy="27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980" b="1" spc="-39">
                <a:solidFill>
                  <a:srgbClr val="00C9FF"/>
                </a:solidFill>
                <a:latin typeface="Gotham Bold"/>
                <a:ea typeface="Gotham Bold"/>
                <a:cs typeface="Gotham Bold"/>
                <a:sym typeface="Gotham Bold"/>
              </a:rPr>
              <a:t>PROTOTYPE VALIDATION &amp; LIVE DEMONSTRATION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1451881"/>
            <a:ext cx="6583680" cy="288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2"/>
              </a:lnSpc>
            </a:pPr>
            <a:r>
              <a:rPr lang="en-US" sz="6865" b="1" spc="-13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Autonomous resolution of logic defects in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5356674"/>
            <a:ext cx="1104718" cy="218640"/>
          </a:xfrm>
          <a:custGeom>
            <a:avLst/>
            <a:gdLst/>
            <a:ahLst/>
            <a:cxnLst/>
            <a:rect l="l" t="t" r="r" b="b"/>
            <a:pathLst>
              <a:path w="1104718" h="218640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841248" y="5837861"/>
            <a:ext cx="5522976" cy="76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384" spc="-4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Ingests targeted logic failure example like calculator.py assertion error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6825413"/>
            <a:ext cx="4041648" cy="76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384" spc="-4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Instant root cause analysis pinpointing offending lines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7812965"/>
            <a:ext cx="5870448" cy="76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384" spc="-4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Automated unified diff patch generated with first-pass test success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8831378"/>
            <a:ext cx="4151376" cy="76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384" spc="-4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Entire debugging lifecycle without human intervention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9351818" y="2350377"/>
            <a:ext cx="3500096" cy="1727254"/>
          </a:xfrm>
          <a:custGeom>
            <a:avLst/>
            <a:gdLst/>
            <a:ahLst/>
            <a:cxnLst/>
            <a:rect l="l" t="t" r="r" b="b"/>
            <a:pathLst>
              <a:path w="3500096" h="1727254">
                <a:moveTo>
                  <a:pt x="0" y="0"/>
                </a:moveTo>
                <a:lnTo>
                  <a:pt x="3500096" y="0"/>
                </a:lnTo>
                <a:lnTo>
                  <a:pt x="350009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2622220" y="2995365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059732" y="2350377"/>
            <a:ext cx="3270402" cy="1727254"/>
          </a:xfrm>
          <a:custGeom>
            <a:avLst/>
            <a:gdLst/>
            <a:ahLst/>
            <a:cxnLst/>
            <a:rect l="l" t="t" r="r" b="b"/>
            <a:pathLst>
              <a:path w="3270402" h="1727254">
                <a:moveTo>
                  <a:pt x="0" y="0"/>
                </a:moveTo>
                <a:lnTo>
                  <a:pt x="3270402" y="0"/>
                </a:lnTo>
                <a:lnTo>
                  <a:pt x="327040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9351818" y="4066699"/>
            <a:ext cx="4364182" cy="1934962"/>
          </a:xfrm>
          <a:custGeom>
            <a:avLst/>
            <a:gdLst/>
            <a:ahLst/>
            <a:cxnLst/>
            <a:rect l="l" t="t" r="r" b="b"/>
            <a:pathLst>
              <a:path w="4364182" h="1934962">
                <a:moveTo>
                  <a:pt x="0" y="0"/>
                </a:moveTo>
                <a:lnTo>
                  <a:pt x="4364182" y="0"/>
                </a:lnTo>
                <a:lnTo>
                  <a:pt x="436418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3497244" y="4919394"/>
            <a:ext cx="437512" cy="448211"/>
          </a:xfrm>
          <a:custGeom>
            <a:avLst/>
            <a:gdLst/>
            <a:ahLst/>
            <a:cxnLst/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3716000" y="4066699"/>
            <a:ext cx="2614134" cy="1934962"/>
          </a:xfrm>
          <a:custGeom>
            <a:avLst/>
            <a:gdLst/>
            <a:ahLst/>
            <a:cxnLst/>
            <a:rect l="l" t="t" r="r" b="b"/>
            <a:pathLst>
              <a:path w="2614134" h="1934962">
                <a:moveTo>
                  <a:pt x="0" y="0"/>
                </a:moveTo>
                <a:lnTo>
                  <a:pt x="2614134" y="0"/>
                </a:lnTo>
                <a:lnTo>
                  <a:pt x="261413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2622220" y="578302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9351818" y="5990729"/>
            <a:ext cx="6978316" cy="1082267"/>
          </a:xfrm>
          <a:custGeom>
            <a:avLst/>
            <a:gdLst/>
            <a:ahLst/>
            <a:cxnLst/>
            <a:rect l="l" t="t" r="r" b="b"/>
            <a:pathLst>
              <a:path w="6978316" h="1082267">
                <a:moveTo>
                  <a:pt x="0" y="0"/>
                </a:moveTo>
                <a:lnTo>
                  <a:pt x="6978316" y="0"/>
                </a:lnTo>
                <a:lnTo>
                  <a:pt x="6978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841248" y="4336920"/>
            <a:ext cx="7424928" cy="981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2"/>
              </a:lnSpc>
            </a:pPr>
            <a:r>
              <a:rPr lang="en-US" sz="6865" b="1" spc="-137">
                <a:solidFill>
                  <a:srgbClr val="00C9FF"/>
                </a:solidFill>
                <a:latin typeface="Gotham Bold"/>
                <a:ea typeface="Gotham Bold"/>
                <a:cs typeface="Gotham Bold"/>
                <a:sym typeface="Gotham Bold"/>
              </a:rPr>
              <a:t>under 15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41248" y="936068"/>
            <a:ext cx="9308592" cy="190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6756" b="1" spc="-20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Business Impact, Scalability &amp; Roadmap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3342180"/>
            <a:ext cx="2450592" cy="28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2023" b="1">
                <a:solidFill>
                  <a:srgbClr val="00E8FF"/>
                </a:solidFill>
                <a:latin typeface="Gotham Bold"/>
                <a:ea typeface="Gotham Bold"/>
                <a:cs typeface="Gotham Bold"/>
                <a:sym typeface="Gotham Bold"/>
              </a:rPr>
              <a:t>BUSINESS 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4004085"/>
            <a:ext cx="2377440" cy="95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6732" b="1" spc="-201">
                <a:solidFill>
                  <a:srgbClr val="00E8FF"/>
                </a:solidFill>
                <a:latin typeface="Gotham Bold"/>
                <a:ea typeface="Gotham Bold"/>
                <a:cs typeface="Gotham Bold"/>
                <a:sym typeface="Gotham Bold"/>
              </a:rPr>
              <a:t>60%+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4004085"/>
            <a:ext cx="2377440" cy="95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6732" b="1" spc="-201">
                <a:solidFill>
                  <a:srgbClr val="00E8FF"/>
                </a:solidFill>
                <a:latin typeface="Gotham Bold"/>
                <a:ea typeface="Gotham Bold"/>
                <a:cs typeface="Gotham Bold"/>
                <a:sym typeface="Gotham Bold"/>
              </a:rPr>
              <a:t>60%+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248" y="4847427"/>
            <a:ext cx="3877056" cy="88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0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reduction in Mean Time to Resolution (MTTR)</a:t>
            </a:r>
          </a:p>
        </p:txBody>
      </p:sp>
      <p:sp>
        <p:nvSpPr>
          <p:cNvPr id="8" name="Freeform 8"/>
          <p:cNvSpPr/>
          <p:nvPr/>
        </p:nvSpPr>
        <p:spPr>
          <a:xfrm>
            <a:off x="4998574" y="3848060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5632704" y="4222967"/>
            <a:ext cx="3511296" cy="138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2"/>
              </a:lnSpc>
            </a:pPr>
            <a:r>
              <a:rPr lang="en-US" sz="235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Significant </a:t>
            </a:r>
            <a:r>
              <a:rPr lang="en-US" sz="2357">
                <a:solidFill>
                  <a:srgbClr val="00E8FF"/>
                </a:solidFill>
                <a:latin typeface="Gotham"/>
                <a:ea typeface="Gotham"/>
                <a:cs typeface="Gotham"/>
                <a:sym typeface="Gotham"/>
              </a:rPr>
              <a:t>cost savings</a:t>
            </a:r>
            <a:r>
              <a:rPr lang="en-US" sz="235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by freeing senior engineers from triage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6376845"/>
            <a:ext cx="1408176" cy="28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2023" b="1">
                <a:solidFill>
                  <a:srgbClr val="00E8FF"/>
                </a:solidFill>
                <a:latin typeface="Gotham Bold"/>
                <a:ea typeface="Gotham Bold"/>
                <a:cs typeface="Gotham Bold"/>
                <a:sym typeface="Gotham Bold"/>
              </a:rPr>
              <a:t>ROADMAP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1248" y="6997450"/>
            <a:ext cx="4791456" cy="877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CI/CD </a:t>
            </a:r>
            <a:r>
              <a:rPr lang="en-US" sz="2250" dirty="0">
                <a:solidFill>
                  <a:srgbClr val="00E8FF"/>
                </a:solidFill>
                <a:latin typeface="Gotham"/>
                <a:ea typeface="Gotham"/>
                <a:cs typeface="Gotham"/>
                <a:sym typeface="Gotham"/>
              </a:rPr>
              <a:t>GitHub Action</a:t>
            </a:r>
            <a:r>
              <a:rPr lang="en-US" sz="2250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integration for autonomous PR reviews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8133399"/>
            <a:ext cx="7197072" cy="229572"/>
          </a:xfrm>
          <a:custGeom>
            <a:avLst/>
            <a:gdLst/>
            <a:ahLst/>
            <a:cxnLst/>
            <a:rect l="l" t="t" r="r" b="b"/>
            <a:pathLst>
              <a:path w="7197072" h="2295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841248" y="8458164"/>
            <a:ext cx="6839712" cy="88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0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Support for </a:t>
            </a:r>
            <a:r>
              <a:rPr lang="en-US" sz="2303">
                <a:solidFill>
                  <a:srgbClr val="00E8FF"/>
                </a:solidFill>
                <a:latin typeface="Gotham"/>
                <a:ea typeface="Gotham"/>
                <a:cs typeface="Gotham"/>
                <a:sym typeface="Gotham"/>
              </a:rPr>
              <a:t>TypeScript, Go, Java</a:t>
            </a:r>
            <a:r>
              <a:rPr lang="en-US" sz="230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languages and </a:t>
            </a:r>
            <a:r>
              <a:rPr lang="en-US" sz="2303">
                <a:solidFill>
                  <a:srgbClr val="00E8FF"/>
                </a:solidFill>
                <a:latin typeface="Gotham"/>
                <a:ea typeface="Gotham"/>
                <a:cs typeface="Gotham"/>
                <a:sym typeface="Gotham"/>
              </a:rPr>
              <a:t>docker</a:t>
            </a:r>
            <a:r>
              <a:rPr lang="en-US" sz="230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containerized sandboxing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389</Words>
  <Application>Microsoft Office PowerPoint</Application>
  <PresentationFormat>Custom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Gotham Bold</vt:lpstr>
      <vt:lpstr>Arial</vt:lpstr>
      <vt:lpstr>Gotham Bold Italics</vt:lpstr>
      <vt:lpstr>Calibri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AI Bug Fixing</dc:title>
  <cp:lastModifiedBy>Priyanshu Baadlas</cp:lastModifiedBy>
  <cp:revision>1</cp:revision>
  <dcterms:created xsi:type="dcterms:W3CDTF">2006-08-16T00:00:00Z</dcterms:created>
  <dcterms:modified xsi:type="dcterms:W3CDTF">2026-09-29T14:38:58Z</dcterms:modified>
  <dc:identifier>DAHWltKu1ww</dc:identifier>
</cp:coreProperties>
</file>